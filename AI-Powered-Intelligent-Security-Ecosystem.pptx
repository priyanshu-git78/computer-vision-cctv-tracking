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0-3.svg" ContentType="image/svg+xml"/>
  <Override PartName="/ppt/media/image-5-3.svg" ContentType="image/svg+xml"/>
  <Override PartName="/ppt/media/image-5-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image" Target="../media/image-10-2.png"/><Relationship Id="rId9" Type="http://schemas.openxmlformats.org/officeDocument/2006/relationships/image" Target="../media/image-10-3.svg"/><Relationship Id="rId10" Type="http://schemas.openxmlformats.org/officeDocument/2006/relationships/image" Target="../media/image-10-2.png"/><Relationship Id="rId11" Type="http://schemas.openxmlformats.org/officeDocument/2006/relationships/image" Target="../media/image-10-3.svg"/><Relationship Id="rId12" Type="http://schemas.openxmlformats.org/officeDocument/2006/relationships/image" Target="../media/image-10-2.png"/><Relationship Id="rId13" Type="http://schemas.openxmlformats.org/officeDocument/2006/relationships/image" Target="../media/image-10-3.svg"/><Relationship Id="rId14" Type="http://schemas.openxmlformats.org/officeDocument/2006/relationships/image" Target="../media/image-10-2.png"/><Relationship Id="rId15" Type="http://schemas.openxmlformats.org/officeDocument/2006/relationships/image" Target="../media/image-10-3.svg"/><Relationship Id="rId16" Type="http://schemas.openxmlformats.org/officeDocument/2006/relationships/image" Target="../media/image-10-16.pn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1631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AI-Powered Intelligent Security Ecosystem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258988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Smarter protection for modern spaces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693045"/>
            <a:ext cx="472276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security systems often generate too many false alarms, miss subtle threats, and require constant human monitoring. This research explores how AI can unify surveillance, detection, and response into a more adaptive security ecosystem for retail and experience environments.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2059"/>
            <a:ext cx="4722763" cy="80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Experience Centers: Security and Operational Context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3925119" y="1379562"/>
            <a:ext cx="472276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CCTV infrastructure generates valuable security and operational data — but it remains passive, underutilized, and reactive by design.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925119" y="1902396"/>
            <a:ext cx="2303190" cy="1793900"/>
          </a:xfrm>
          <a:prstGeom prst="roundRect">
            <a:avLst>
              <a:gd name="adj" fmla="val 300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58320" y="2035597"/>
            <a:ext cx="203678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Physical Zones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058320" y="2306092"/>
            <a:ext cx="2036787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areas and product displays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High-value zones and restricted areas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Entrances, exits, and staff-only zones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344692" y="1902396"/>
            <a:ext cx="2303190" cy="1793900"/>
          </a:xfrm>
          <a:prstGeom prst="roundRect">
            <a:avLst>
              <a:gd name="adj" fmla="val 300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77893" y="2035597"/>
            <a:ext cx="203678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CCTV Infrastructure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77893" y="2306092"/>
            <a:ext cx="2036787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fixed and PTZ cameras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recording capability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Underutilized real-time intelligence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925119" y="3812679"/>
            <a:ext cx="4722763" cy="928762"/>
          </a:xfrm>
          <a:prstGeom prst="roundRect">
            <a:avLst>
              <a:gd name="adj" fmla="val 581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58320" y="3945880"/>
            <a:ext cx="445636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Core Gap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058320" y="4216375"/>
            <a:ext cx="445636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Surveillance captures everything but understands nothing in real time — valuable data is lost without intelligent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Limitations of Conventional CCTV and Standard AI Surveillance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354759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Dual Problem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506638"/>
            <a:ext cx="398673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CCTV is passive and reactive — events are discovered only after they occur. Standard AI surveillance attempts to fix this but introduces a new problem: every model runs on every frame of every camera, regardless of scene activity.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806154"/>
            <a:ext cx="3986733" cy="292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computational cost with no activity-based filtering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Multi-camera scaling becomes prohibitively expensive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prioritization of critical events over routine activity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3175"/>
            <a:ext cx="4722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Research Question</a:t>
            </a:r>
            <a:endParaRPr lang="en-US" sz="2350" dirty="0"/>
          </a:p>
        </p:txBody>
      </p:sp>
      <p:sp>
        <p:nvSpPr>
          <p:cNvPr id="4" name="Shape 1"/>
          <p:cNvSpPr/>
          <p:nvPr/>
        </p:nvSpPr>
        <p:spPr>
          <a:xfrm>
            <a:off x="496119" y="940891"/>
            <a:ext cx="14288" cy="960239"/>
          </a:xfrm>
          <a:prstGeom prst="roundRect">
            <a:avLst>
              <a:gd name="adj" fmla="val 59998"/>
            </a:avLst>
          </a:prstGeom>
          <a:solidFill>
            <a:srgbClr val="4950BC"/>
          </a:solidFill>
          <a:ln/>
        </p:spPr>
      </p:sp>
      <p:sp>
        <p:nvSpPr>
          <p:cNvPr id="5" name="Text 2"/>
          <p:cNvSpPr/>
          <p:nvPr/>
        </p:nvSpPr>
        <p:spPr>
          <a:xfrm>
            <a:off x="678805" y="1058614"/>
            <a:ext cx="4540076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"Can an adaptive, event-driven multimodel computer vision architecture reduce unnecessary computational workload while maintaining acceptable security-event detection and customer-analytics performance compared with standard continuous inference?"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96119" y="2018854"/>
            <a:ext cx="4722763" cy="2721471"/>
          </a:xfrm>
          <a:prstGeom prst="roundRect">
            <a:avLst>
              <a:gd name="adj" fmla="val 188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0881" y="2023616"/>
            <a:ext cx="4713238" cy="677987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8" name="Text 5"/>
          <p:cNvSpPr/>
          <p:nvPr/>
        </p:nvSpPr>
        <p:spPr>
          <a:xfrm>
            <a:off x="622697" y="2145432"/>
            <a:ext cx="446960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Accuracy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2697" y="2398588"/>
            <a:ext cx="446960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Detection and event-recall performance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0881" y="2701603"/>
            <a:ext cx="4713238" cy="677987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1" name="Shape 8"/>
          <p:cNvSpPr/>
          <p:nvPr/>
        </p:nvSpPr>
        <p:spPr>
          <a:xfrm>
            <a:off x="500881" y="2701603"/>
            <a:ext cx="4713238" cy="14288"/>
          </a:xfrm>
          <a:prstGeom prst="roundRect">
            <a:avLst>
              <a:gd name="adj" fmla="val 358127"/>
            </a:avLst>
          </a:prstGeom>
          <a:solidFill>
            <a:srgbClr val="C0C1D7"/>
          </a:solidFill>
          <a:ln/>
        </p:spPr>
      </p:sp>
      <p:sp>
        <p:nvSpPr>
          <p:cNvPr id="12" name="Text 9"/>
          <p:cNvSpPr/>
          <p:nvPr/>
        </p:nvSpPr>
        <p:spPr>
          <a:xfrm>
            <a:off x="622697" y="2823418"/>
            <a:ext cx="446960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Performance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22697" y="3076575"/>
            <a:ext cx="446960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 and inference speed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0881" y="3379589"/>
            <a:ext cx="4713238" cy="677987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5" name="Shape 12"/>
          <p:cNvSpPr/>
          <p:nvPr/>
        </p:nvSpPr>
        <p:spPr>
          <a:xfrm>
            <a:off x="500881" y="3379589"/>
            <a:ext cx="4713238" cy="14288"/>
          </a:xfrm>
          <a:prstGeom prst="roundRect">
            <a:avLst>
              <a:gd name="adj" fmla="val 358127"/>
            </a:avLst>
          </a:prstGeom>
          <a:solidFill>
            <a:srgbClr val="C0C1D7"/>
          </a:solidFill>
          <a:ln/>
        </p:spPr>
      </p:sp>
      <p:sp>
        <p:nvSpPr>
          <p:cNvPr id="16" name="Text 13"/>
          <p:cNvSpPr/>
          <p:nvPr/>
        </p:nvSpPr>
        <p:spPr>
          <a:xfrm>
            <a:off x="622697" y="3501405"/>
            <a:ext cx="446960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Computational Efficiency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22697" y="3754562"/>
            <a:ext cx="446960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GPU, VRAM, and CPU utilization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0881" y="4057576"/>
            <a:ext cx="4713238" cy="677987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9" name="Shape 16"/>
          <p:cNvSpPr/>
          <p:nvPr/>
        </p:nvSpPr>
        <p:spPr>
          <a:xfrm>
            <a:off x="500881" y="4057576"/>
            <a:ext cx="4713238" cy="14288"/>
          </a:xfrm>
          <a:prstGeom prst="roundRect">
            <a:avLst>
              <a:gd name="adj" fmla="val 358127"/>
            </a:avLst>
          </a:prstGeom>
          <a:solidFill>
            <a:srgbClr val="C0C1D7"/>
          </a:solidFill>
          <a:ln/>
        </p:spPr>
      </p:sp>
      <p:sp>
        <p:nvSpPr>
          <p:cNvPr id="20" name="Text 17"/>
          <p:cNvSpPr/>
          <p:nvPr/>
        </p:nvSpPr>
        <p:spPr>
          <a:xfrm>
            <a:off x="622697" y="4179391"/>
            <a:ext cx="446960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Scalability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22697" y="4432548"/>
            <a:ext cx="446960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Multi-camera deployment feasibility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22374"/>
            <a:ext cx="4722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Objectives</a:t>
            </a:r>
            <a:endParaRPr lang="en-US" sz="2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024533"/>
            <a:ext cx="2299097" cy="21987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94895" y="1124173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4072310" y="1556147"/>
            <a:ext cx="2004715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Research and Selection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072310" y="2046238"/>
            <a:ext cx="2004715" cy="1029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and select open-source AI and computer vision technologies suited to experience-center security and analytics requirements.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8785" y="1024533"/>
            <a:ext cx="2299097" cy="219878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18561" y="1124173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6495976" y="1556147"/>
            <a:ext cx="2004715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 AI Model Development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6495976" y="2046238"/>
            <a:ext cx="2004715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and train custom AI models using domain-relevant datasets, transfer learning, and systematic experimentation.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347889"/>
            <a:ext cx="4722763" cy="137316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06728" y="3447529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072310" y="3879503"/>
            <a:ext cx="442838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Intelligent Ecosystem Development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4072310" y="4161904"/>
            <a:ext cx="442838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 integrated security and customer behavior analytics ecosystem with adaptive, event-driven AI orchestration.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Scope of the Intelligent Ecosystem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399035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Three Intelligence Layers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550914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ecosystem addresses three interconnected domains — each requiring distinct AI approaches and processing strategies.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761878"/>
            <a:ext cx="3986733" cy="292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 Intelligence: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Real-time threat and anomaly detection across defined zones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Analytics: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Anonymous behavioral insights for operational decision-making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Intelligence: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Adaptive orchestration that optimizes resource utilization dynamically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362"/>
            <a:ext cx="815176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 and Development Methodology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33810"/>
            <a:ext cx="8151763" cy="35758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66551" y="3286896"/>
            <a:ext cx="1232034" cy="441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Preparation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966551" y="3790838"/>
            <a:ext cx="1232034" cy="297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Clean, annotate, and format data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80432" y="2917396"/>
            <a:ext cx="1232034" cy="661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&amp; Benchmarking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80432" y="3641935"/>
            <a:ext cx="1232034" cy="446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system and run comparisons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2751" y="1155194"/>
            <a:ext cx="1232034" cy="441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 &amp; Data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52751" y="1659136"/>
            <a:ext cx="1232034" cy="446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Survey technologies and datasets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50944" y="1155194"/>
            <a:ext cx="1232034" cy="441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Development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950944" y="1659136"/>
            <a:ext cx="1232034" cy="446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and validate multiple approaches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6119" y="4485010"/>
            <a:ext cx="8151763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follows a structured four-phase methodology — from initial technology and dataset research through data preparation, multi-approach model training, and finally system integration with rigorous comparative benchmarking.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237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Strategy, Selection, and Preparation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6472" y="1860277"/>
            <a:ext cx="2064916" cy="2064916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731" y="1860277"/>
            <a:ext cx="2048396" cy="1845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24731" y="1860277"/>
            <a:ext cx="2048396" cy="184520"/>
          </a:xfrm>
          <a:prstGeom prst="rect">
            <a:avLst/>
          </a:prstGeom>
          <a:solidFill>
            <a:srgbClr val="F2F2F2">
              <a:alpha val="60000"/>
            </a:srgbClr>
          </a:solidFill>
          <a:ln w="4763">
            <a:solidFill>
              <a:srgbClr val="E5E0D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319098" y="1895381"/>
            <a:ext cx="259631" cy="4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00" b="1" dirty="0">
                <a:solidFill>
                  <a:srgbClr val="AEAEB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Untitled card</a:t>
            </a:r>
            <a:endParaRPr lang="en-US" sz="300" dirty="0"/>
          </a:p>
        </p:txBody>
      </p:sp>
      <p:sp>
        <p:nvSpPr>
          <p:cNvPr id="7" name="Text 3"/>
          <p:cNvSpPr/>
          <p:nvPr/>
        </p:nvSpPr>
        <p:spPr>
          <a:xfrm>
            <a:off x="1476354" y="1962491"/>
            <a:ext cx="145351" cy="47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200" dirty="0">
                <a:solidFill>
                  <a:srgbClr val="272525"/>
                </a:solidFill>
                <a:latin typeface="PPMori" pitchFamily="34" charset="0"/>
                <a:ea typeface="PPMori" pitchFamily="34" charset="-122"/>
                <a:cs typeface="PPMori" pitchFamily="34" charset="-120"/>
              </a:rPr>
              <a:t>View more</a:t>
            </a:r>
            <a:endParaRPr lang="en-US" sz="200" dirty="0"/>
          </a:p>
        </p:txBody>
      </p:sp>
      <p:sp>
        <p:nvSpPr>
          <p:cNvPr id="8" name="Text 4"/>
          <p:cNvSpPr/>
          <p:nvPr/>
        </p:nvSpPr>
        <p:spPr>
          <a:xfrm>
            <a:off x="4746947" y="1171724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Multi-Dataset Strategy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746947" y="1527125"/>
            <a:ext cx="390569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single dataset covers the complete experience-center problem. Task-specific datasets are maintained separately to prevent incompatible label conflicts and class mismatches.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746947" y="2536552"/>
            <a:ext cx="3905696" cy="71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Kaggle, Roboflow Universe, academic repositories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dataset registry: under project documentation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746947" y="3386361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Preparation Pipeline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746947" y="3741762"/>
            <a:ext cx="390569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Download → Archive Validation → Corrupt File Detection → Label Validation → Class Mapping → Duplicate Detection → Format Conversion → Train/Val/Test Split → Dataset Statistics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Experimental Evaluation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718096"/>
                </a:solidFill>
              </a:defRPr>
            </a:pPr>
            <a:r>
              <a:t>Empirical measurements from model training, tracking comparison, and system orchestration.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560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B6CB0"/>
                </a:solidFill>
              </a:defRPr>
            </a:pPr>
            <a:r>
              <a:t>Custom Model Training</a:t>
            </a:r>
          </a:p>
          <a:p>
            <a:pPr>
              <a:defRPr sz="1150">
                <a:solidFill>
                  <a:srgbClr val="2D3748"/>
                </a:solidFill>
              </a:defRPr>
            </a:pPr>
            <a:r>
              <a:t>• Person Detector (YOLOv8n)</a:t>
            </a:r>
          </a:p>
          <a:p>
            <a:pPr>
              <a:defRPr sz="1150">
                <a:solidFill>
                  <a:srgbClr val="2D3748"/>
                </a:solidFill>
              </a:defRPr>
            </a:pPr>
            <a:r>
              <a:t>  - mAP50: 0.3733 on COCO-Person</a:t>
            </a:r>
          </a:p>
          <a:p>
            <a:pPr>
              <a:defRPr sz="1150">
                <a:solidFill>
                  <a:srgbClr val="2D3748"/>
                </a:solidFill>
              </a:defRPr>
            </a:pPr>
            <a:r>
              <a:t>  - Optimized for lightweight tracking</a:t>
            </a:r>
          </a:p>
          <a:p>
            <a:pPr>
              <a:defRPr sz="1150">
                <a:solidFill>
                  <a:srgbClr val="2D3748"/>
                </a:solidFill>
              </a:defRPr>
            </a:pPr>
            <a:r>
              <a:t>• Tuned Fire Detector (YOLOv8n)</a:t>
            </a:r>
          </a:p>
          <a:p>
            <a:pPr>
              <a:defRPr sz="1150">
                <a:solidFill>
                  <a:srgbClr val="2D3748"/>
                </a:solidFill>
              </a:defRPr>
            </a:pPr>
            <a:r>
              <a:t>  - mAP50: 0.6383 | mAP50-95: 0.4611</a:t>
            </a:r>
          </a:p>
          <a:p>
            <a:pPr>
              <a:defRPr sz="1150">
                <a:solidFill>
                  <a:srgbClr val="2D3748"/>
                </a:solidFill>
              </a:defRPr>
            </a:pPr>
            <a:r>
              <a:t>  - Fine-tuned with optimized augmentation</a:t>
            </a:r>
          </a:p>
          <a:p>
            <a:pPr>
              <a:defRPr sz="1150">
                <a:solidFill>
                  <a:srgbClr val="2D3748"/>
                </a:solidFill>
              </a:defRPr>
            </a:pPr>
            <a:r>
              <a:t>• Specialist Fire (YOLOv8s)</a:t>
            </a:r>
          </a:p>
          <a:p>
            <a:pPr>
              <a:defRPr sz="1150">
                <a:solidFill>
                  <a:srgbClr val="2D3748"/>
                </a:solidFill>
              </a:defRPr>
            </a:pPr>
            <a:r>
              <a:t>  - mAP50: 0.6950 | mAP50-95: 0.3953</a:t>
            </a:r>
          </a:p>
          <a:p>
            <a:pPr>
              <a:defRPr sz="1150">
                <a:solidFill>
                  <a:srgbClr val="2D3748"/>
                </a:solidFill>
              </a:defRPr>
            </a:pPr>
            <a:r>
              <a:t>  - Higher capacity validation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371600"/>
            <a:ext cx="2560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B6CB0"/>
                </a:solidFill>
              </a:defRPr>
            </a:pPr>
            <a:r>
              <a:t>System Performance</a:t>
            </a:r>
          </a:p>
          <a:p>
            <a:pPr>
              <a:defRPr sz="1150">
                <a:solidFill>
                  <a:srgbClr val="2D3748"/>
                </a:solidFill>
              </a:defRPr>
            </a:pPr>
            <a:r>
              <a:t>• Tracking (TownCentre Benchmark)</a:t>
            </a:r>
          </a:p>
          <a:p>
            <a:pPr>
              <a:defRPr sz="1150">
                <a:solidFill>
                  <a:srgbClr val="2D3748"/>
                </a:solidFill>
              </a:defRPr>
            </a:pPr>
            <a:r>
              <a:t>  - ByteTrack: 100.0% count accuracy</a:t>
            </a:r>
          </a:p>
          <a:p>
            <a:pPr>
              <a:defRPr sz="1150">
                <a:solidFill>
                  <a:srgbClr val="2D3748"/>
                </a:solidFill>
              </a:defRPr>
            </a:pPr>
            <a:r>
              <a:t>  - BoT-SORT: 93.8% count accuracy</a:t>
            </a:r>
          </a:p>
          <a:p>
            <a:pPr>
              <a:defRPr sz="1150">
                <a:solidFill>
                  <a:srgbClr val="2D3748"/>
                </a:solidFill>
              </a:defRPr>
            </a:pPr>
            <a:r>
              <a:t>• Standard vs. Adaptive System</a:t>
            </a:r>
          </a:p>
          <a:p>
            <a:pPr>
              <a:defRPr sz="1150">
                <a:solidFill>
                  <a:srgbClr val="2D3748"/>
                </a:solidFill>
              </a:defRPr>
            </a:pPr>
            <a:r>
              <a:t>  - Frame Rate: 30.0 -&gt; 12.6 FPS (-58%)</a:t>
            </a:r>
          </a:p>
          <a:p>
            <a:pPr>
              <a:defRPr sz="1150">
                <a:solidFill>
                  <a:srgbClr val="2D3748"/>
                </a:solidFill>
              </a:defRPr>
            </a:pPr>
            <a:r>
              <a:t>  - VRAM Saving: 1.8GB -&gt; 0.9GB (-50%)</a:t>
            </a:r>
          </a:p>
          <a:p>
            <a:pPr>
              <a:defRPr sz="1150">
                <a:solidFill>
                  <a:srgbClr val="2D3748"/>
                </a:solidFill>
              </a:defRPr>
            </a:pPr>
            <a:r>
              <a:t>  - Event Recall: 100.0% (No missed events)</a:t>
            </a:r>
          </a:p>
          <a:p>
            <a:pPr>
              <a:defRPr sz="1150">
                <a:solidFill>
                  <a:srgbClr val="2D3748"/>
                </a:solidFill>
              </a:defRPr>
            </a:pPr>
            <a:r>
              <a:t>  - Achieved substantial compute reduction</a:t>
            </a:r>
          </a:p>
          <a:p>
            <a:pPr>
              <a:defRPr sz="1150">
                <a:solidFill>
                  <a:srgbClr val="2D3748"/>
                </a:solidFill>
              </a:defRPr>
            </a:pPr>
            <a:r>
              <a:t>    without sacrificing security recall</a:t>
            </a:r>
          </a:p>
        </p:txBody>
      </p:sp>
      <p:pic>
        <p:nvPicPr>
          <p:cNvPr id="6" name="Picture 5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46304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2626"/>
            <a:ext cx="472276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Multiple Experimental Training Approaches</a:t>
            </a:r>
            <a:endParaRPr lang="en-US" sz="1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718468"/>
            <a:ext cx="4722763" cy="4651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0149" y="878384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858069" y="805458"/>
            <a:ext cx="4273823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Pretrained Baseline</a:t>
            </a:r>
            <a:endParaRPr lang="en-US" sz="750" dirty="0"/>
          </a:p>
        </p:txBody>
      </p:sp>
      <p:sp>
        <p:nvSpPr>
          <p:cNvPr id="7" name="Text 3"/>
          <p:cNvSpPr/>
          <p:nvPr/>
        </p:nvSpPr>
        <p:spPr>
          <a:xfrm>
            <a:off x="858069" y="951905"/>
            <a:ext cx="427382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Off-the-shelf weights for initial performance reference</a:t>
            </a:r>
            <a:endParaRPr lang="en-US" sz="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225972"/>
            <a:ext cx="4722763" cy="46516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0149" y="1385888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858069" y="1312962"/>
            <a:ext cx="4273823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Lightweight Custom Model</a:t>
            </a:r>
            <a:endParaRPr lang="en-US" sz="750" dirty="0"/>
          </a:p>
        </p:txBody>
      </p:sp>
      <p:sp>
        <p:nvSpPr>
          <p:cNvPr id="11" name="Text 6"/>
          <p:cNvSpPr/>
          <p:nvPr/>
        </p:nvSpPr>
        <p:spPr>
          <a:xfrm>
            <a:off x="858069" y="1459409"/>
            <a:ext cx="427382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Smaller architecture optimized for edge deployment</a:t>
            </a:r>
            <a:endParaRPr lang="en-US" sz="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1733476"/>
            <a:ext cx="4722763" cy="4651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0149" y="1893391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858069" y="1820466"/>
            <a:ext cx="4273823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Larger Model Comparison</a:t>
            </a:r>
            <a:endParaRPr lang="en-US" sz="750" dirty="0"/>
          </a:p>
        </p:txBody>
      </p:sp>
      <p:sp>
        <p:nvSpPr>
          <p:cNvPr id="15" name="Text 9"/>
          <p:cNvSpPr/>
          <p:nvPr/>
        </p:nvSpPr>
        <p:spPr>
          <a:xfrm>
            <a:off x="858069" y="1966913"/>
            <a:ext cx="427382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Higher-capacity model for accuracy ceiling assessment</a:t>
            </a:r>
            <a:endParaRPr lang="en-US" sz="6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2240979"/>
            <a:ext cx="4722763" cy="46516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00149" y="2400895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58069" y="2327970"/>
            <a:ext cx="4273823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Transfer Learning</a:t>
            </a:r>
            <a:endParaRPr lang="en-US" sz="750" dirty="0"/>
          </a:p>
        </p:txBody>
      </p:sp>
      <p:sp>
        <p:nvSpPr>
          <p:cNvPr id="19" name="Text 12"/>
          <p:cNvSpPr/>
          <p:nvPr/>
        </p:nvSpPr>
        <p:spPr>
          <a:xfrm>
            <a:off x="858069" y="2474416"/>
            <a:ext cx="427382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adaptation from pretrained checkpoints</a:t>
            </a:r>
            <a:endParaRPr lang="en-US" sz="6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6119" y="2748483"/>
            <a:ext cx="4722763" cy="46516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00149" y="2908399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858069" y="2835473"/>
            <a:ext cx="4273823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CCTV-Oriented Augmentation</a:t>
            </a:r>
            <a:endParaRPr lang="en-US" sz="750" dirty="0"/>
          </a:p>
        </p:txBody>
      </p:sp>
      <p:sp>
        <p:nvSpPr>
          <p:cNvPr id="23" name="Text 15"/>
          <p:cNvSpPr/>
          <p:nvPr/>
        </p:nvSpPr>
        <p:spPr>
          <a:xfrm>
            <a:off x="858069" y="2981920"/>
            <a:ext cx="427382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Augmentation strategies specific to surveillance footage</a:t>
            </a:r>
            <a:endParaRPr lang="en-US" sz="6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6119" y="3255987"/>
            <a:ext cx="4722763" cy="46516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00149" y="3415903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858069" y="3342977"/>
            <a:ext cx="4273823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Hyperparameter Tuning</a:t>
            </a:r>
            <a:endParaRPr lang="en-US" sz="750" dirty="0"/>
          </a:p>
        </p:txBody>
      </p:sp>
      <p:sp>
        <p:nvSpPr>
          <p:cNvPr id="27" name="Text 18"/>
          <p:cNvSpPr/>
          <p:nvPr/>
        </p:nvSpPr>
        <p:spPr>
          <a:xfrm>
            <a:off x="858069" y="3489424"/>
            <a:ext cx="427382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Systematic optimization of learning parameters</a:t>
            </a:r>
            <a:endParaRPr lang="en-US" sz="6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6119" y="3763491"/>
            <a:ext cx="4722763" cy="46516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00149" y="3923407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</a:t>
            </a:r>
            <a:endParaRPr lang="en-US" sz="900" dirty="0"/>
          </a:p>
        </p:txBody>
      </p:sp>
      <p:sp>
        <p:nvSpPr>
          <p:cNvPr id="30" name="Text 20"/>
          <p:cNvSpPr/>
          <p:nvPr/>
        </p:nvSpPr>
        <p:spPr>
          <a:xfrm>
            <a:off x="858069" y="3850481"/>
            <a:ext cx="4273823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Domain Fine-Tuning</a:t>
            </a:r>
            <a:endParaRPr lang="en-US" sz="750" dirty="0"/>
          </a:p>
        </p:txBody>
      </p:sp>
      <p:sp>
        <p:nvSpPr>
          <p:cNvPr id="31" name="Text 21"/>
          <p:cNvSpPr/>
          <p:nvPr/>
        </p:nvSpPr>
        <p:spPr>
          <a:xfrm>
            <a:off x="858069" y="3996928"/>
            <a:ext cx="427382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Experience-center-specific final refinement</a:t>
            </a:r>
            <a:endParaRPr lang="en-US" sz="600" dirty="0"/>
          </a:p>
        </p:txBody>
      </p:sp>
      <p:sp>
        <p:nvSpPr>
          <p:cNvPr id="32" name="Text 22"/>
          <p:cNvSpPr/>
          <p:nvPr/>
        </p:nvSpPr>
        <p:spPr>
          <a:xfrm>
            <a:off x="496119" y="4276279"/>
            <a:ext cx="4722763" cy="191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approach is evaluated on precision, recall, F1, mAP50, mAP50–95, latency, FPS, and VRAM. The final deployment model is selected based on the accuracy-efficiency balance — not accuracy alone.</a:t>
            </a:r>
            <a:endParaRPr lang="en-US" sz="600" dirty="0"/>
          </a:p>
        </p:txBody>
      </p:sp>
      <p:sp>
        <p:nvSpPr>
          <p:cNvPr id="33" name="Shape 23"/>
          <p:cNvSpPr/>
          <p:nvPr/>
        </p:nvSpPr>
        <p:spPr>
          <a:xfrm>
            <a:off x="496119" y="4515743"/>
            <a:ext cx="4722763" cy="215057"/>
          </a:xfrm>
          <a:prstGeom prst="roundRect">
            <a:avLst>
              <a:gd name="adj" fmla="val 15141"/>
            </a:avLst>
          </a:prstGeom>
          <a:solidFill>
            <a:srgbClr val="DADBF1"/>
          </a:solidFill>
          <a:ln/>
        </p:spPr>
        <p:txBody>
          <a:bodyPr/>
          <a:p/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3584" y="4612556"/>
            <a:ext cx="96887" cy="77465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747936" y="4577432"/>
            <a:ext cx="4850681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  <a:defRPr sz="1400" i="1" b="1">
                <a:solidFill>
                  <a:srgbClr val="228B22"/>
                </a:solidFill>
              </a:defRPr>
            </a:pPr>
            <a:r>
              <a:t>Training and evaluation successfully completed. Fine-tuned model weights and results have been validated and uploaded to Hugging Face.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YOLO Alone Is Not Enough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399035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Complex Events Require Temporal Intelligence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550914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object detector cannot address all security and analytics requirements. Each event type demands a specialized AI approach combining detection, tracking, temporal analysis, and contextual reasoning.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761878"/>
            <a:ext cx="3986733" cy="292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detection is insufficient for behavioral events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Temporal and contextual layers are essential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Specialist models are triggered only when contextually relevant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2026-07-07T18:03:50Z</dcterms:created>
  <dcterms:modified xsi:type="dcterms:W3CDTF">2026-07-07T18:03:50Z</dcterms:modified>
</cp:coreProperties>
</file>